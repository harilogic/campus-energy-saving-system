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83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65760" y="0"/>
            <a:ext cx="0" cy="6858000"/>
          </a:xfrm>
          <a:prstGeom prst="line">
            <a:avLst/>
          </a:prstGeom>
          <a:ln w="6350">
            <a:solidFill>
              <a:srgbClr val="1B3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6350">
            <a:solidFill>
              <a:srgbClr val="1B3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474720" y="0"/>
            <a:ext cx="0" cy="6858000"/>
          </a:xfrm>
          <a:prstGeom prst="line">
            <a:avLst/>
          </a:prstGeom>
          <a:ln w="6350">
            <a:solidFill>
              <a:srgbClr val="1B3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6350">
            <a:solidFill>
              <a:srgbClr val="1B3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6350">
            <a:solidFill>
              <a:srgbClr val="1B3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138160" y="0"/>
            <a:ext cx="0" cy="6858000"/>
          </a:xfrm>
          <a:prstGeom prst="line">
            <a:avLst/>
          </a:prstGeom>
          <a:ln w="6350">
            <a:solidFill>
              <a:srgbClr val="1B3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92640" y="0"/>
            <a:ext cx="0" cy="6858000"/>
          </a:xfrm>
          <a:prstGeom prst="line">
            <a:avLst/>
          </a:prstGeom>
          <a:ln w="6350">
            <a:solidFill>
              <a:srgbClr val="1B3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247120" y="0"/>
            <a:ext cx="0" cy="6858000"/>
          </a:xfrm>
          <a:prstGeom prst="line">
            <a:avLst/>
          </a:prstGeom>
          <a:ln w="6350">
            <a:solidFill>
              <a:srgbClr val="1B3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6350">
            <a:solidFill>
              <a:srgbClr val="1B3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1554480"/>
            <a:ext cx="12191695" cy="0"/>
          </a:xfrm>
          <a:prstGeom prst="line">
            <a:avLst/>
          </a:prstGeom>
          <a:ln w="6350">
            <a:solidFill>
              <a:srgbClr val="1B3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2651760"/>
            <a:ext cx="12191695" cy="0"/>
          </a:xfrm>
          <a:prstGeom prst="line">
            <a:avLst/>
          </a:prstGeom>
          <a:ln w="6350">
            <a:solidFill>
              <a:srgbClr val="1B3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749039"/>
            <a:ext cx="12191695" cy="0"/>
          </a:xfrm>
          <a:prstGeom prst="line">
            <a:avLst/>
          </a:prstGeom>
          <a:ln w="6350">
            <a:solidFill>
              <a:srgbClr val="1B3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846320"/>
            <a:ext cx="12191695" cy="0"/>
          </a:xfrm>
          <a:prstGeom prst="line">
            <a:avLst/>
          </a:prstGeom>
          <a:ln w="6350">
            <a:solidFill>
              <a:srgbClr val="1B3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5943600"/>
            <a:ext cx="12191695" cy="0"/>
          </a:xfrm>
          <a:prstGeom prst="line">
            <a:avLst/>
          </a:prstGeom>
          <a:ln w="6350">
            <a:solidFill>
              <a:srgbClr val="1B3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658368"/>
            <a:ext cx="6400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CAMPUS ENERGY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234440"/>
            <a:ext cx="6400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37B4BE"/>
                </a:solidFill>
                <a:latin typeface="Aptos"/>
              </a:rPr>
              <a:t>SAVING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96596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ED3E0"/>
                </a:solidFill>
                <a:latin typeface="Aptos"/>
              </a:rPr>
              <a:t>IoT + Smart Control + Solar + Data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514600"/>
            <a:ext cx="56692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Aptos"/>
              </a:rPr>
              <a:t>A technical concept for reducing electricity waste across classrooms, laboratories, hostels and common areas.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051560"/>
            <a:ext cx="4251960" cy="4526280"/>
          </a:xfrm>
          <a:prstGeom prst="roundRect">
            <a:avLst/>
          </a:prstGeom>
          <a:solidFill>
            <a:srgbClr val="193145"/>
          </a:solidFill>
          <a:ln>
            <a:solidFill>
              <a:srgbClr val="2F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35240" y="2788920"/>
            <a:ext cx="731520" cy="2194560"/>
          </a:xfrm>
          <a:prstGeom prst="rect">
            <a:avLst/>
          </a:prstGeom>
          <a:solidFill>
            <a:srgbClr val="466275"/>
          </a:solidFill>
          <a:ln>
            <a:solidFill>
              <a:srgbClr val="466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81544" y="31089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74152" y="31089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81544" y="35661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74152" y="35661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81544" y="40233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74152" y="40233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81544" y="44805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74152" y="44805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641080" y="2011680"/>
            <a:ext cx="731520" cy="2971800"/>
          </a:xfrm>
          <a:prstGeom prst="rect">
            <a:avLst/>
          </a:prstGeom>
          <a:solidFill>
            <a:srgbClr val="466275"/>
          </a:solidFill>
          <a:ln>
            <a:solidFill>
              <a:srgbClr val="466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787384" y="233172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79992" y="233172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787384" y="278892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79992" y="278892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787384" y="324612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079992" y="324612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787384" y="370332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79992" y="370332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829800" y="2560320"/>
            <a:ext cx="731520" cy="2423160"/>
          </a:xfrm>
          <a:prstGeom prst="rect">
            <a:avLst/>
          </a:prstGeom>
          <a:solidFill>
            <a:srgbClr val="466275"/>
          </a:solidFill>
          <a:ln>
            <a:solidFill>
              <a:srgbClr val="466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976104" y="28803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268712" y="28803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976104" y="33375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268712" y="33375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976104" y="37947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268712" y="37947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976104" y="42519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268712" y="42519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744200" y="1645920"/>
            <a:ext cx="731520" cy="3337560"/>
          </a:xfrm>
          <a:prstGeom prst="rect">
            <a:avLst/>
          </a:prstGeom>
          <a:solidFill>
            <a:srgbClr val="466275"/>
          </a:solidFill>
          <a:ln>
            <a:solidFill>
              <a:srgbClr val="466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890504" y="19659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1183112" y="19659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890504" y="24231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1183112" y="24231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890504" y="28803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1183112" y="28803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890504" y="33375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1183112" y="3337560"/>
            <a:ext cx="146304" cy="219456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726679" y="1417320"/>
            <a:ext cx="566928" cy="256032"/>
          </a:xfrm>
          <a:prstGeom prst="rect">
            <a:avLst/>
          </a:prstGeom>
          <a:solidFill>
            <a:srgbClr val="2370B0"/>
          </a:solidFill>
          <a:ln>
            <a:solidFill>
              <a:srgbClr val="23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732520" y="1417320"/>
            <a:ext cx="566928" cy="256032"/>
          </a:xfrm>
          <a:prstGeom prst="rect">
            <a:avLst/>
          </a:prstGeom>
          <a:solidFill>
            <a:srgbClr val="2370B0"/>
          </a:solidFill>
          <a:ln>
            <a:solidFill>
              <a:srgbClr val="23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921240" y="1417320"/>
            <a:ext cx="566928" cy="256032"/>
          </a:xfrm>
          <a:prstGeom prst="rect">
            <a:avLst/>
          </a:prstGeom>
          <a:solidFill>
            <a:srgbClr val="2370B0"/>
          </a:solidFill>
          <a:ln>
            <a:solidFill>
              <a:srgbClr val="23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0835640" y="1417320"/>
            <a:ext cx="566928" cy="256032"/>
          </a:xfrm>
          <a:prstGeom prst="rect">
            <a:avLst/>
          </a:prstGeom>
          <a:solidFill>
            <a:srgbClr val="2370B0"/>
          </a:solidFill>
          <a:ln>
            <a:solidFill>
              <a:srgbClr val="23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498079" y="4480560"/>
            <a:ext cx="411480" cy="411480"/>
          </a:xfrm>
          <a:prstGeom prst="ellipse">
            <a:avLst/>
          </a:prstGeom>
          <a:solidFill>
            <a:srgbClr val="39915B"/>
          </a:solidFill>
          <a:ln>
            <a:solidFill>
              <a:srgbClr val="39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671815" y="4828032"/>
            <a:ext cx="73152" cy="320040"/>
          </a:xfrm>
          <a:prstGeom prst="rect">
            <a:avLst/>
          </a:prstGeom>
          <a:solidFill>
            <a:srgbClr val="EB8F39"/>
          </a:solidFill>
          <a:ln>
            <a:solidFill>
              <a:srgbClr val="EB8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1384280" y="4480560"/>
            <a:ext cx="411480" cy="411480"/>
          </a:xfrm>
          <a:prstGeom prst="ellipse">
            <a:avLst/>
          </a:prstGeom>
          <a:solidFill>
            <a:srgbClr val="39915B"/>
          </a:solidFill>
          <a:ln>
            <a:solidFill>
              <a:srgbClr val="39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558015" y="4828032"/>
            <a:ext cx="73152" cy="320040"/>
          </a:xfrm>
          <a:prstGeom prst="rect">
            <a:avLst/>
          </a:prstGeom>
          <a:solidFill>
            <a:srgbClr val="EB8F39"/>
          </a:solidFill>
          <a:ln>
            <a:solidFill>
              <a:srgbClr val="EB8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8823960" y="685800"/>
            <a:ext cx="658368" cy="658368"/>
          </a:xfrm>
          <a:prstGeom prst="ellipse">
            <a:avLst/>
          </a:prstGeom>
          <a:solidFill>
            <a:srgbClr val="EB8F39"/>
          </a:solidFill>
          <a:ln>
            <a:solidFill>
              <a:srgbClr val="EB8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☀</a:t>
            </a:r>
          </a:p>
        </p:txBody>
      </p:sp>
      <p:sp>
        <p:nvSpPr>
          <p:cNvPr id="66" name="Oval 65"/>
          <p:cNvSpPr/>
          <p:nvPr/>
        </p:nvSpPr>
        <p:spPr>
          <a:xfrm>
            <a:off x="10149840" y="685800"/>
            <a:ext cx="658368" cy="658368"/>
          </a:xfrm>
          <a:prstGeom prst="ellipse">
            <a:avLst/>
          </a:prstGeom>
          <a:solidFill>
            <a:srgbClr val="39915B"/>
          </a:solidFill>
          <a:ln>
            <a:solidFill>
              <a:srgbClr val="39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✓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482328" y="1005840"/>
            <a:ext cx="667512" cy="0"/>
          </a:xfrm>
          <a:prstGeom prst="line">
            <a:avLst/>
          </a:prstGeom>
          <a:ln w="38100">
            <a:solidFill>
              <a:srgbClr val="37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635240" y="5230368"/>
            <a:ext cx="347472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F8FAFC"/>
                </a:solidFill>
                <a:latin typeface="Aptos"/>
              </a:rPr>
              <a:t>SMART CAMPUS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6080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7B4BE"/>
                </a:solidFill>
                <a:latin typeface="Aptos"/>
              </a:rPr>
              <a:t>Measure → Analyze → Automate → Save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35440" y="610819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B4C6D2"/>
                </a:solidFill>
                <a:latin typeface="Aptos"/>
              </a:rPr>
              <a:t>Technical Presentation • 5 slides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87580"/>
                </a:solidFill>
                <a:latin typeface="Aptos"/>
              </a:rPr>
              <a:t>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2336"/>
                </a:solidFill>
                <a:latin typeface="Aptos"/>
              </a:rPr>
              <a:t>1. Why a Campus Needs Smart Energy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54864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329184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0">
                <a:solidFill>
                  <a:srgbClr val="687580"/>
                </a:solidFill>
                <a:latin typeface="Aptos"/>
              </a:rPr>
              <a:t>Problem → measurable energy waste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617720" cy="4983480"/>
          </a:xfrm>
          <a:prstGeom prst="roundRect">
            <a:avLst/>
          </a:prstGeom>
          <a:solidFill>
            <a:srgbClr val="E8F1F6"/>
          </a:solidFill>
          <a:ln>
            <a:solidFill>
              <a:srgbClr val="E8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2336"/>
                </a:solidFill>
                <a:latin typeface="Aptos"/>
              </a:rPr>
              <a:t>Typical high-consumption zones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438912" cy="438912"/>
          </a:xfrm>
          <a:prstGeom prst="ellipse">
            <a:avLst/>
          </a:prstGeom>
          <a:solidFill>
            <a:srgbClr val="2370B0"/>
          </a:solidFill>
          <a:ln>
            <a:solidFill>
              <a:srgbClr val="23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3911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336"/>
                </a:solidFill>
                <a:latin typeface="Aptos"/>
              </a:rPr>
              <a:t>Classrooms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039112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87580"/>
                </a:solidFill>
                <a:latin typeface="Aptos"/>
              </a:rPr>
              <a:t>Lights + fans + AC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907792"/>
            <a:ext cx="438912" cy="438912"/>
          </a:xfrm>
          <a:prstGeom prst="ellipse">
            <a:avLst/>
          </a:prstGeom>
          <a:solidFill>
            <a:srgbClr val="EB8F39"/>
          </a:solidFill>
          <a:ln>
            <a:solidFill>
              <a:srgbClr val="EB8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950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336"/>
                </a:solidFill>
                <a:latin typeface="Aptos"/>
              </a:rPr>
              <a:t>Laboratories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889504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87580"/>
                </a:solidFill>
                <a:latin typeface="Aptos"/>
              </a:rPr>
              <a:t>Equipment + ventilation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758184"/>
            <a:ext cx="438912" cy="438912"/>
          </a:xfrm>
          <a:prstGeom prst="ellipse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3989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336"/>
                </a:solidFill>
                <a:latin typeface="Aptos"/>
              </a:rPr>
              <a:t>Hostels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739896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87580"/>
                </a:solidFill>
                <a:latin typeface="Aptos"/>
              </a:rPr>
              <a:t>24/7 occupancy variation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608576"/>
            <a:ext cx="438912" cy="438912"/>
          </a:xfrm>
          <a:prstGeom prst="ellipse">
            <a:avLst/>
          </a:prstGeom>
          <a:solidFill>
            <a:srgbClr val="39915B"/>
          </a:solidFill>
          <a:ln>
            <a:solidFill>
              <a:srgbClr val="39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9028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336"/>
                </a:solidFill>
                <a:latin typeface="Aptos"/>
              </a:rPr>
              <a:t>Outdoor areas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590288"/>
            <a:ext cx="1600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87580"/>
                </a:solidFill>
                <a:latin typeface="Aptos"/>
              </a:rPr>
              <a:t>Street + pathway lighting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504688"/>
            <a:ext cx="3977639" cy="475488"/>
          </a:xfrm>
          <a:prstGeom prst="round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559612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CA4B4B"/>
                </a:solidFill>
                <a:latin typeface="Aptos"/>
              </a:rPr>
              <a:t>Common waste: lights / HVAC left ON in empty spaces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13258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22336"/>
                </a:solidFill>
                <a:latin typeface="Aptos"/>
              </a:rPr>
              <a:t>Core idea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1737360"/>
            <a:ext cx="5669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5303A"/>
                </a:solidFill>
                <a:latin typeface="Aptos"/>
              </a:rPr>
              <a:t>Instead of asking people to remember every switch, the system uses sensors and software to decide when energy is actually needed.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971800"/>
            <a:ext cx="5715000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852160" y="3118104"/>
            <a:ext cx="438912" cy="438912"/>
          </a:xfrm>
          <a:prstGeom prst="ellipse">
            <a:avLst/>
          </a:prstGeom>
          <a:solidFill>
            <a:srgbClr val="2370B0"/>
          </a:solidFill>
          <a:ln>
            <a:solidFill>
              <a:srgbClr val="23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081528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336"/>
                </a:solidFill>
                <a:latin typeface="Aptos"/>
              </a:rPr>
              <a:t>SENSE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054096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87580"/>
                </a:solidFill>
                <a:latin typeface="Aptos"/>
              </a:rPr>
              <a:t>Occupancy, light, temperature &amp; power meters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3904487"/>
            <a:ext cx="5715000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52160" y="4050791"/>
            <a:ext cx="438912" cy="438912"/>
          </a:xfrm>
          <a:prstGeom prst="ellipse">
            <a:avLst/>
          </a:prstGeom>
          <a:solidFill>
            <a:srgbClr val="EB8F39"/>
          </a:solidFill>
          <a:ln>
            <a:solidFill>
              <a:srgbClr val="EB8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014215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336"/>
                </a:solidFill>
                <a:latin typeface="Aptos"/>
              </a:rPr>
              <a:t>THINK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986783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87580"/>
                </a:solidFill>
                <a:latin typeface="Aptos"/>
              </a:rPr>
              <a:t>Rules, schedules &amp; analytics predict demand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837176"/>
            <a:ext cx="5715000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852160" y="4983480"/>
            <a:ext cx="438912" cy="438912"/>
          </a:xfrm>
          <a:prstGeom prst="ellipse">
            <a:avLst/>
          </a:prstGeom>
          <a:solidFill>
            <a:srgbClr val="39915B"/>
          </a:solidFill>
          <a:ln>
            <a:solidFill>
              <a:srgbClr val="39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946904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336"/>
                </a:solidFill>
                <a:latin typeface="Aptos"/>
              </a:rPr>
              <a:t>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4919472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87580"/>
                </a:solidFill>
                <a:latin typeface="Aptos"/>
              </a:rPr>
              <a:t>Smart relays control lights, fans &amp; HVAC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87580"/>
                </a:solidFill>
                <a:latin typeface="Aptos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2336"/>
                </a:solidFill>
                <a:latin typeface="Aptos"/>
              </a:rPr>
              <a:t>2. 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54864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329184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0">
                <a:solidFill>
                  <a:srgbClr val="687580"/>
                </a:solidFill>
                <a:latin typeface="Aptos"/>
              </a:rPr>
              <a:t>End-to-end energy saving and control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05740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057400" cy="420624"/>
          </a:xfrm>
          <a:prstGeom prst="roundRect">
            <a:avLst/>
          </a:prstGeom>
          <a:solidFill>
            <a:srgbClr val="2370B0"/>
          </a:solidFill>
          <a:ln>
            <a:solidFill>
              <a:srgbClr val="23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965960"/>
            <a:ext cx="19110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41448"/>
            <a:ext cx="18379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PIR / occupancy</a:t>
            </a:r>
          </a:p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LDR / daylight</a:t>
            </a:r>
          </a:p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Temperature</a:t>
            </a:r>
          </a:p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Smart energy meter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874519"/>
            <a:ext cx="205740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71800" y="1874519"/>
            <a:ext cx="2057400" cy="420624"/>
          </a:xfrm>
          <a:prstGeom prst="round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1965960"/>
            <a:ext cx="19110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EDGE /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441448"/>
            <a:ext cx="18379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ESP32 / gateway</a:t>
            </a:r>
          </a:p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Filter &amp; aggregate</a:t>
            </a:r>
          </a:p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Local safety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1874519"/>
            <a:ext cx="205740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49240" y="1874519"/>
            <a:ext cx="2057400" cy="420624"/>
          </a:xfrm>
          <a:prstGeom prst="roundRect">
            <a:avLst/>
          </a:prstGeom>
          <a:solidFill>
            <a:srgbClr val="EB8F39"/>
          </a:solidFill>
          <a:ln>
            <a:solidFill>
              <a:srgbClr val="EB8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22392" y="1965960"/>
            <a:ext cx="19110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CLOUD / 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2441448"/>
            <a:ext cx="18379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Database</a:t>
            </a:r>
          </a:p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Dashboard</a:t>
            </a:r>
          </a:p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Analytics / ML</a:t>
            </a:r>
          </a:p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874519"/>
            <a:ext cx="205740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26679" y="1874519"/>
            <a:ext cx="2057400" cy="420624"/>
          </a:xfrm>
          <a:prstGeom prst="roundRect">
            <a:avLst/>
          </a:prstGeom>
          <a:solidFill>
            <a:srgbClr val="39915B"/>
          </a:solidFill>
          <a:ln>
            <a:solidFill>
              <a:srgbClr val="39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99831" y="1965960"/>
            <a:ext cx="19110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7" y="2441448"/>
            <a:ext cx="18379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Scheduling</a:t>
            </a:r>
          </a:p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Load priority</a:t>
            </a:r>
          </a:p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Demand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874519"/>
            <a:ext cx="1508760" cy="1920240"/>
          </a:xfrm>
          <a:prstGeom prst="round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104120" y="1874519"/>
            <a:ext cx="1508760" cy="420624"/>
          </a:xfrm>
          <a:prstGeom prst="roundRect">
            <a:avLst/>
          </a:prstGeom>
          <a:solidFill>
            <a:srgbClr val="CA4B4B"/>
          </a:solidFill>
          <a:ln>
            <a:solidFill>
              <a:srgbClr val="CA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77272" y="1965960"/>
            <a:ext cx="1362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LOADS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13848" y="2441448"/>
            <a:ext cx="12893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LED</a:t>
            </a:r>
          </a:p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Fans</a:t>
            </a:r>
          </a:p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HVAC</a:t>
            </a:r>
          </a:p>
          <a:p>
            <a:pPr>
              <a:spcAft>
                <a:spcPts val="700"/>
              </a:spcAft>
              <a:defRPr sz="1050">
                <a:solidFill>
                  <a:srgbClr val="25303A"/>
                </a:solidFill>
                <a:latin typeface="Aptos"/>
              </a:defRPr>
            </a:pPr>
            <a:r>
              <a:t>• Pumps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51760" y="2834640"/>
            <a:ext cx="320040" cy="0"/>
          </a:xfrm>
          <a:prstGeom prst="line">
            <a:avLst/>
          </a:prstGeom>
          <a:ln w="25400">
            <a:solidFill>
              <a:srgbClr val="687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743200" y="2697480"/>
            <a:ext cx="274320" cy="274320"/>
          </a:xfrm>
          <a:prstGeom prst="ellipse">
            <a:avLst/>
          </a:prstGeom>
          <a:solidFill>
            <a:srgbClr val="687580"/>
          </a:solidFill>
          <a:ln>
            <a:solidFill>
              <a:srgbClr val="687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›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0" y="2834640"/>
            <a:ext cx="320040" cy="0"/>
          </a:xfrm>
          <a:prstGeom prst="line">
            <a:avLst/>
          </a:prstGeom>
          <a:ln w="25400">
            <a:solidFill>
              <a:srgbClr val="687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120640" y="2697480"/>
            <a:ext cx="274320" cy="274320"/>
          </a:xfrm>
          <a:prstGeom prst="ellipse">
            <a:avLst/>
          </a:prstGeom>
          <a:solidFill>
            <a:srgbClr val="687580"/>
          </a:solidFill>
          <a:ln>
            <a:solidFill>
              <a:srgbClr val="687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›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06640" y="2834640"/>
            <a:ext cx="320039" cy="0"/>
          </a:xfrm>
          <a:prstGeom prst="line">
            <a:avLst/>
          </a:prstGeom>
          <a:ln w="25400">
            <a:solidFill>
              <a:srgbClr val="687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498079" y="2697480"/>
            <a:ext cx="274320" cy="274320"/>
          </a:xfrm>
          <a:prstGeom prst="ellipse">
            <a:avLst/>
          </a:prstGeom>
          <a:solidFill>
            <a:srgbClr val="687580"/>
          </a:solidFill>
          <a:ln>
            <a:solidFill>
              <a:srgbClr val="687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84080" y="2834640"/>
            <a:ext cx="320039" cy="0"/>
          </a:xfrm>
          <a:prstGeom prst="line">
            <a:avLst/>
          </a:prstGeom>
          <a:ln w="25400">
            <a:solidFill>
              <a:srgbClr val="687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875519" y="2697480"/>
            <a:ext cx="274320" cy="274320"/>
          </a:xfrm>
          <a:prstGeom prst="ellipse">
            <a:avLst/>
          </a:prstGeom>
          <a:solidFill>
            <a:srgbClr val="687580"/>
          </a:solidFill>
          <a:ln>
            <a:solidFill>
              <a:srgbClr val="687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34640" y="4251960"/>
            <a:ext cx="6309360" cy="1234440"/>
          </a:xfrm>
          <a:prstGeom prst="roundRect">
            <a:avLst/>
          </a:prstGeom>
          <a:solidFill>
            <a:srgbClr val="EFF7F1"/>
          </a:solidFill>
          <a:ln>
            <a:solidFill>
              <a:srgbClr val="BF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154680" y="4572000"/>
            <a:ext cx="566928" cy="566928"/>
          </a:xfrm>
          <a:prstGeom prst="ellipse">
            <a:avLst/>
          </a:prstGeom>
          <a:solidFill>
            <a:srgbClr val="EB8F39"/>
          </a:solidFill>
          <a:ln>
            <a:solidFill>
              <a:srgbClr val="EB8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507992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336"/>
                </a:solidFill>
                <a:latin typeface="Aptos"/>
              </a:rPr>
              <a:t>SOLAR PV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4800600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580"/>
                </a:solidFill>
                <a:latin typeface="Aptos"/>
              </a:rPr>
              <a:t>Generate clean power during daylight</a:t>
            </a:r>
          </a:p>
        </p:txBody>
      </p:sp>
      <p:sp>
        <p:nvSpPr>
          <p:cNvPr id="37" name="Oval 36"/>
          <p:cNvSpPr/>
          <p:nvPr/>
        </p:nvSpPr>
        <p:spPr>
          <a:xfrm>
            <a:off x="6172200" y="4572000"/>
            <a:ext cx="566928" cy="566928"/>
          </a:xfrm>
          <a:prstGeom prst="ellipse">
            <a:avLst/>
          </a:prstGeom>
          <a:solidFill>
            <a:srgbClr val="2370B0"/>
          </a:solidFill>
          <a:ln>
            <a:solidFill>
              <a:srgbClr val="23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507992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336"/>
                </a:solidFill>
                <a:latin typeface="Aptos"/>
              </a:rPr>
              <a:t>BATTERY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80060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580"/>
                </a:solidFill>
                <a:latin typeface="Aptos"/>
              </a:rPr>
              <a:t>Store surplus → support peak periods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3891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336"/>
                </a:solidFill>
                <a:latin typeface="Aptos"/>
              </a:rPr>
              <a:t>POWER 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736592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580"/>
                </a:solidFill>
                <a:latin typeface="Aptos"/>
              </a:rPr>
              <a:t>Solar → Loads</a:t>
            </a:r>
            <a:br/>
            <a:r>
              <a:t>Solar → Battery → Loads</a:t>
            </a:r>
            <a:br/>
            <a:r>
              <a:t>Grid → Loads when required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897880"/>
            <a:ext cx="1045159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687580"/>
                </a:solidFill>
                <a:latin typeface="Aptos"/>
              </a:rPr>
              <a:t>Communication can use Wi‑Fi, Ethernet, Zigbee or LoRa; MQTT is a common lightweight messaging option.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87580"/>
                </a:solidFill>
                <a:latin typeface="Aptos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22336"/>
                </a:solidFill>
                <a:latin typeface="Aptos"/>
              </a:rPr>
              <a:t>3. How the Power-Saving System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914400" cy="54864"/>
          </a:xfrm>
          <a:prstGeom prst="rect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329184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0">
                <a:solidFill>
                  <a:srgbClr val="687580"/>
                </a:solidFill>
                <a:latin typeface="Aptos"/>
              </a:rPr>
              <a:t>A simple automatic decision cycle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965960"/>
            <a:ext cx="658368" cy="658368"/>
          </a:xfrm>
          <a:prstGeom prst="ellipse">
            <a:avLst/>
          </a:prstGeom>
          <a:solidFill>
            <a:srgbClr val="2370B0"/>
          </a:solidFill>
          <a:ln>
            <a:solidFill>
              <a:srgbClr val="237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15768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2336"/>
                </a:solidFill>
                <a:latin typeface="Aptos"/>
              </a:rPr>
              <a:t>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3017520"/>
            <a:ext cx="1783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87580"/>
                </a:solidFill>
                <a:latin typeface="Aptos"/>
              </a:rPr>
              <a:t>Room occupied?</a:t>
            </a:r>
            <a:br/>
            <a:r>
              <a:t>Daylight level?</a:t>
            </a:r>
          </a:p>
        </p:txBody>
      </p:sp>
      <p:sp>
        <p:nvSpPr>
          <p:cNvPr id="8" name="Oval 7"/>
          <p:cNvSpPr/>
          <p:nvPr/>
        </p:nvSpPr>
        <p:spPr>
          <a:xfrm>
            <a:off x="2743200" y="1097280"/>
            <a:ext cx="658368" cy="658368"/>
          </a:xfrm>
          <a:prstGeom prst="ellipse">
            <a:avLst/>
          </a:prstGeom>
          <a:solidFill>
            <a:srgbClr val="37B4BE"/>
          </a:solidFill>
          <a:ln>
            <a:solidFill>
              <a:srgbClr val="3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847088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2336"/>
                </a:solidFill>
                <a:latin typeface="Aptos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2148839"/>
            <a:ext cx="1783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87580"/>
                </a:solidFill>
                <a:latin typeface="Aptos"/>
              </a:rPr>
              <a:t>Power + temp.</a:t>
            </a:r>
            <a:br/>
            <a:r>
              <a:t>+ runtime</a:t>
            </a:r>
          </a:p>
        </p:txBody>
      </p:sp>
      <p:sp>
        <p:nvSpPr>
          <p:cNvPr id="11" name="Oval 10"/>
          <p:cNvSpPr/>
          <p:nvPr/>
        </p:nvSpPr>
        <p:spPr>
          <a:xfrm>
            <a:off x="4526280" y="1965960"/>
            <a:ext cx="658368" cy="658368"/>
          </a:xfrm>
          <a:prstGeom prst="ellipse">
            <a:avLst/>
          </a:prstGeom>
          <a:solidFill>
            <a:srgbClr val="EB8F39"/>
          </a:solidFill>
          <a:ln>
            <a:solidFill>
              <a:srgbClr val="EB8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15768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2336"/>
                </a:solidFill>
                <a:latin typeface="Aptos"/>
              </a:rPr>
              <a:t>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3017520"/>
            <a:ext cx="1783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87580"/>
                </a:solidFill>
                <a:latin typeface="Aptos"/>
              </a:rPr>
              <a:t>Rules + schedule</a:t>
            </a:r>
            <a:br/>
            <a:r>
              <a:t>+ demand forecast</a:t>
            </a:r>
          </a:p>
        </p:txBody>
      </p:sp>
      <p:sp>
        <p:nvSpPr>
          <p:cNvPr id="14" name="Oval 13"/>
          <p:cNvSpPr/>
          <p:nvPr/>
        </p:nvSpPr>
        <p:spPr>
          <a:xfrm>
            <a:off x="2743200" y="4343400"/>
            <a:ext cx="658368" cy="658368"/>
          </a:xfrm>
          <a:prstGeom prst="ellipse">
            <a:avLst/>
          </a:prstGeom>
          <a:solidFill>
            <a:srgbClr val="39915B"/>
          </a:solidFill>
          <a:ln>
            <a:solidFill>
              <a:srgbClr val="39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5093208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2336"/>
                </a:solidFill>
                <a:latin typeface="Aptos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5394960"/>
            <a:ext cx="1783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687580"/>
                </a:solidFill>
                <a:latin typeface="Aptos"/>
              </a:rPr>
              <a:t>Dim / OFF / adjust</a:t>
            </a:r>
            <a:br>
              <a:rPr dirty="0"/>
            </a:br>
            <a:r>
              <a:rPr dirty="0"/>
              <a:t>HVAC &amp; loads</a:t>
            </a:r>
          </a:p>
        </p:txBody>
      </p:sp>
      <p:cxnSp>
        <p:nvCxnSpPr>
          <p:cNvPr id="17" name="Connector 16"/>
          <p:cNvCxnSpPr>
            <a:cxnSpLocks/>
            <a:stCxn id="5" idx="6"/>
            <a:endCxn id="8" idx="3"/>
          </p:cNvCxnSpPr>
          <p:nvPr/>
        </p:nvCxnSpPr>
        <p:spPr>
          <a:xfrm flipV="1">
            <a:off x="1618488" y="1659232"/>
            <a:ext cx="1221128" cy="635912"/>
          </a:xfrm>
          <a:prstGeom prst="line">
            <a:avLst/>
          </a:prstGeom>
          <a:ln w="25400">
            <a:solidFill>
              <a:srgbClr val="687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cxnSpLocks/>
            <a:endCxn id="11" idx="2"/>
          </p:cNvCxnSpPr>
          <p:nvPr/>
        </p:nvCxnSpPr>
        <p:spPr>
          <a:xfrm>
            <a:off x="3305152" y="1650088"/>
            <a:ext cx="1221128" cy="645056"/>
          </a:xfrm>
          <a:prstGeom prst="line">
            <a:avLst/>
          </a:prstGeom>
          <a:ln w="25400">
            <a:solidFill>
              <a:srgbClr val="687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endCxn id="14" idx="6"/>
          </p:cNvCxnSpPr>
          <p:nvPr/>
        </p:nvCxnSpPr>
        <p:spPr>
          <a:xfrm flipH="1">
            <a:off x="3401568" y="3831336"/>
            <a:ext cx="1216152" cy="841248"/>
          </a:xfrm>
          <a:prstGeom prst="line">
            <a:avLst/>
          </a:prstGeom>
          <a:ln w="25400">
            <a:solidFill>
              <a:srgbClr val="687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  <a:endCxn id="7" idx="2"/>
          </p:cNvCxnSpPr>
          <p:nvPr/>
        </p:nvCxnSpPr>
        <p:spPr>
          <a:xfrm flipH="1" flipV="1">
            <a:off x="1284732" y="3584448"/>
            <a:ext cx="1458468" cy="1033272"/>
          </a:xfrm>
          <a:prstGeom prst="line">
            <a:avLst/>
          </a:prstGeom>
          <a:ln w="25400">
            <a:solidFill>
              <a:srgbClr val="687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331720" y="2697480"/>
            <a:ext cx="1417320" cy="1417320"/>
          </a:xfrm>
          <a:prstGeom prst="ellipse">
            <a:avLst/>
          </a:prstGeom>
          <a:solidFill>
            <a:srgbClr val="122336"/>
          </a:solidFill>
          <a:ln>
            <a:solidFill>
              <a:srgbClr val="12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822960"/>
            <a:ext cx="4572000" cy="10094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dirty="0">
                <a:solidFill>
                  <a:srgbClr val="122336"/>
                </a:solidFill>
                <a:latin typeface="Aptos"/>
              </a:rPr>
              <a:t>Energy</a:t>
            </a:r>
            <a:br>
              <a:rPr dirty="0"/>
            </a:br>
            <a:r>
              <a:rPr dirty="0"/>
              <a:t>Management</a:t>
            </a:r>
            <a:br>
              <a:rPr dirty="0"/>
            </a:br>
            <a:r>
              <a:rPr dirty="0"/>
              <a:t>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965960"/>
            <a:ext cx="50749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5303A"/>
                </a:solidFill>
                <a:latin typeface="Aptos"/>
              </a:defRPr>
            </a:pPr>
            <a:r>
              <a:t>• If a classroom is empty, lights and non-critical loads are switched off or dimmed.</a:t>
            </a:r>
          </a:p>
          <a:p>
            <a:pPr>
              <a:spcAft>
                <a:spcPts val="700"/>
              </a:spcAft>
              <a:defRPr sz="1400">
                <a:solidFill>
                  <a:srgbClr val="25303A"/>
                </a:solidFill>
                <a:latin typeface="Aptos"/>
              </a:defRPr>
            </a:pPr>
            <a:r>
              <a:t>• If daylight is sufficient, lighting output is reduced before using grid power.</a:t>
            </a:r>
          </a:p>
          <a:p>
            <a:pPr>
              <a:spcAft>
                <a:spcPts val="700"/>
              </a:spcAft>
              <a:defRPr sz="1400">
                <a:solidFill>
                  <a:srgbClr val="25303A"/>
                </a:solidFill>
                <a:latin typeface="Aptos"/>
              </a:defRPr>
            </a:pPr>
            <a:r>
              <a:t>• HVAC can follow occupancy, temperature and operating schedules instead of running continuously.</a:t>
            </a:r>
          </a:p>
          <a:p>
            <a:pPr>
              <a:spcAft>
                <a:spcPts val="700"/>
              </a:spcAft>
              <a:defRPr sz="1400">
                <a:solidFill>
                  <a:srgbClr val="25303A"/>
                </a:solidFill>
                <a:latin typeface="Aptos"/>
              </a:defRPr>
            </a:pPr>
            <a:r>
              <a:t>• The dashboard compares buildings, identifies abnormal consumption and sends alerts.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5230368"/>
            <a:ext cx="5074920" cy="621792"/>
          </a:xfrm>
          <a:prstGeom prst="roundRect">
            <a:avLst/>
          </a:prstGeom>
          <a:solidFill>
            <a:srgbClr val="F0F8F2"/>
          </a:solidFill>
          <a:ln>
            <a:solidFill>
              <a:srgbClr val="BFD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5320476"/>
            <a:ext cx="4974336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39915B"/>
                </a:solidFill>
                <a:latin typeface="Aptos"/>
              </a:rPr>
              <a:t>Goal: maintain comfort + safety while eliminating avoidable runtime.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87580"/>
                </a:solidFill>
                <a:latin typeface="Aptos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5B44"/>
                </a:solidFill>
              </a:rPr>
              <a:t>5. STUDENT AWARENESS • POWER THE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5E58"/>
                </a:solidFill>
              </a:rPr>
              <a:t>Small actions + smart automation = a truly energy-aware campus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72600" y="320040"/>
            <a:ext cx="2240280" cy="594360"/>
          </a:xfrm>
          <a:prstGeom prst="roundRect">
            <a:avLst/>
          </a:prstGeom>
          <a:solidFill>
            <a:srgbClr val="DBF4E5"/>
          </a:solidFill>
          <a:ln>
            <a:solidFill>
              <a:srgbClr val="B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91472" y="4389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5B44"/>
                </a:solidFill>
              </a:rPr>
              <a:t>SMART CAMPUS • 5/5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6583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48132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72F"/>
                </a:solidFill>
              </a:rPr>
              <a:t>Students are the human sensor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83664"/>
            <a:ext cx="5897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7E59"/>
                </a:solidFill>
              </a:rPr>
              <a:t>Notice → Act → Share → Track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395728"/>
            <a:ext cx="5897880" cy="566928"/>
          </a:xfrm>
          <a:prstGeom prst="roundRect">
            <a:avLst/>
          </a:prstGeom>
          <a:solidFill>
            <a:srgbClr val="FFF4BE"/>
          </a:solidFill>
          <a:ln>
            <a:solidFill>
              <a:srgbClr val="FFF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487168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3730"/>
                </a:solidFill>
              </a:rPr>
              <a:t>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46888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4335"/>
                </a:solidFill>
              </a:rPr>
              <a:t>SWITCH SMART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450592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E4E48"/>
                </a:solidFill>
              </a:rPr>
              <a:t>Turn OFF lights, fans &amp; screens when leaving.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90672"/>
            <a:ext cx="5897880" cy="566928"/>
          </a:xfrm>
          <a:prstGeom prst="roundRect">
            <a:avLst/>
          </a:prstGeom>
          <a:solidFill>
            <a:srgbClr val="E6F7E7"/>
          </a:solidFill>
          <a:ln>
            <a:solidFill>
              <a:srgbClr val="E6F7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18211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3730"/>
                </a:solidFill>
              </a:rPr>
              <a:t>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16382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4335"/>
                </a:solidFill>
              </a:rPr>
              <a:t>USE DAYLIGHT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145536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E4E48"/>
                </a:solidFill>
              </a:rPr>
              <a:t>Open blinds / use natural light before extra lighting.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785615"/>
            <a:ext cx="5897880" cy="566928"/>
          </a:xfrm>
          <a:prstGeom prst="roundRect">
            <a:avLst/>
          </a:prstGeom>
          <a:solidFill>
            <a:srgbClr val="E0F1FA"/>
          </a:solidFill>
          <a:ln>
            <a:solidFill>
              <a:srgbClr val="E0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877055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3730"/>
                </a:solidFill>
              </a:rPr>
              <a:t>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85876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4335"/>
                </a:solidFill>
              </a:rPr>
              <a:t>SAVE HVAC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840479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E4E48"/>
                </a:solidFill>
              </a:rPr>
              <a:t>Keep doors closed and use scheduled cooling.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480560"/>
            <a:ext cx="5897880" cy="566928"/>
          </a:xfrm>
          <a:prstGeom prst="roundRect">
            <a:avLst/>
          </a:prstGeom>
          <a:solidFill>
            <a:srgbClr val="F2E7FA"/>
          </a:solidFill>
          <a:ln>
            <a:solidFill>
              <a:srgbClr val="F2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572000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33730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55371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4335"/>
                </a:solidFill>
              </a:rPr>
              <a:t>CHECK &amp; 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535424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E4E48"/>
                </a:solidFill>
              </a:rPr>
              <a:t>Spot waste, report it and watch the dashboard.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234440"/>
            <a:ext cx="4069080" cy="4526280"/>
          </a:xfrm>
          <a:prstGeom prst="roundRect">
            <a:avLst/>
          </a:prstGeom>
          <a:solidFill>
            <a:srgbClr val="E8F8EF"/>
          </a:solidFill>
          <a:ln>
            <a:solidFill>
              <a:srgbClr val="BEE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71231" y="14630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35B44"/>
                </a:solidFill>
              </a:rPr>
              <a:t>ENERGY HERO CHALLENGE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1856231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C5E58"/>
                </a:solidFill>
              </a:rPr>
              <a:t>Can you find the waste?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2395728"/>
            <a:ext cx="3063240" cy="2057400"/>
          </a:xfrm>
          <a:prstGeom prst="rect">
            <a:avLst/>
          </a:prstGeom>
          <a:solidFill>
            <a:srgbClr val="FAFCFA"/>
          </a:solidFill>
          <a:ln>
            <a:solidFill>
              <a:srgbClr val="AAB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28431" y="2578608"/>
            <a:ext cx="502920" cy="594360"/>
          </a:xfrm>
          <a:prstGeom prst="rect">
            <a:avLst/>
          </a:prstGeom>
          <a:solidFill>
            <a:srgbClr val="CDEBF7"/>
          </a:solidFill>
          <a:ln>
            <a:solidFill>
              <a:srgbClr val="82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732520" y="2578608"/>
            <a:ext cx="502920" cy="594360"/>
          </a:xfrm>
          <a:prstGeom prst="rect">
            <a:avLst/>
          </a:prstGeom>
          <a:solidFill>
            <a:srgbClr val="CDEBF7"/>
          </a:solidFill>
          <a:ln>
            <a:solidFill>
              <a:srgbClr val="82A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366760" y="2423160"/>
            <a:ext cx="1737360" cy="128016"/>
          </a:xfrm>
          <a:prstGeom prst="roundRect">
            <a:avLst/>
          </a:prstGeom>
          <a:solidFill>
            <a:srgbClr val="FFEC7E"/>
          </a:solidFill>
          <a:ln>
            <a:solidFill>
              <a:srgbClr val="FFE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006840" y="3246120"/>
            <a:ext cx="411480" cy="411480"/>
          </a:xfrm>
          <a:prstGeom prst="ellipse">
            <a:avLst/>
          </a:prstGeom>
          <a:solidFill>
            <a:srgbClr val="DCE5E1"/>
          </a:solidFill>
          <a:ln>
            <a:solidFill>
              <a:srgbClr val="96A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098280" y="3044951"/>
            <a:ext cx="128016" cy="292608"/>
          </a:xfrm>
          <a:prstGeom prst="ellipse">
            <a:avLst/>
          </a:prstGeom>
          <a:solidFill>
            <a:srgbClr val="BCCCC4"/>
          </a:solidFill>
          <a:ln>
            <a:solidFill>
              <a:srgbClr val="BC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235440" y="3319272"/>
            <a:ext cx="128016" cy="292608"/>
          </a:xfrm>
          <a:prstGeom prst="ellipse">
            <a:avLst/>
          </a:prstGeom>
          <a:solidFill>
            <a:srgbClr val="BCCCC4"/>
          </a:solidFill>
          <a:ln>
            <a:solidFill>
              <a:srgbClr val="BC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842248" y="3355848"/>
            <a:ext cx="128016" cy="292608"/>
          </a:xfrm>
          <a:prstGeom prst="ellipse">
            <a:avLst/>
          </a:prstGeom>
          <a:solidFill>
            <a:srgbClr val="BCCCC4"/>
          </a:solidFill>
          <a:ln>
            <a:solidFill>
              <a:srgbClr val="BCC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092440" y="3246120"/>
            <a:ext cx="329184" cy="329184"/>
          </a:xfrm>
          <a:prstGeom prst="ellipse">
            <a:avLst/>
          </a:prstGeom>
          <a:solidFill>
            <a:srgbClr val="F9D0AC"/>
          </a:solidFill>
          <a:ln>
            <a:solidFill>
              <a:srgbClr val="F9D0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028431" y="3566160"/>
            <a:ext cx="475488" cy="685800"/>
          </a:xfrm>
          <a:prstGeom prst="roundRect">
            <a:avLst/>
          </a:prstGeom>
          <a:solidFill>
            <a:srgbClr val="609A7E"/>
          </a:solidFill>
          <a:ln>
            <a:solidFill>
              <a:srgbClr val="609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222992" y="2788920"/>
            <a:ext cx="384048" cy="658368"/>
          </a:xfrm>
          <a:prstGeom prst="roundRect">
            <a:avLst/>
          </a:prstGeom>
          <a:solidFill>
            <a:srgbClr val="FFE2E2"/>
          </a:solidFill>
          <a:ln>
            <a:solidFill>
              <a:srgbClr val="DC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04704" y="2926080"/>
            <a:ext cx="420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E3C3C"/>
                </a:solidFill>
              </a:rP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9248" y="39593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35B44"/>
                </a:solidFill>
              </a:rPr>
              <a:t>Tap the waste points →</a:t>
            </a:r>
          </a:p>
        </p:txBody>
      </p:sp>
      <p:sp>
        <p:nvSpPr>
          <p:cNvPr id="41" name="Oval 40"/>
          <p:cNvSpPr/>
          <p:nvPr/>
        </p:nvSpPr>
        <p:spPr>
          <a:xfrm>
            <a:off x="9125712" y="2487168"/>
            <a:ext cx="246888" cy="246888"/>
          </a:xfrm>
          <a:prstGeom prst="ellipse">
            <a:avLst/>
          </a:prstGeom>
          <a:solidFill>
            <a:srgbClr val="FF7E5A"/>
          </a:solidFill>
          <a:ln>
            <a:solidFill>
              <a:srgbClr val="FF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97112" y="27523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E4632"/>
                </a:solidFill>
              </a:rPr>
              <a:t>LIGHT</a:t>
            </a:r>
          </a:p>
        </p:txBody>
      </p:sp>
      <p:sp>
        <p:nvSpPr>
          <p:cNvPr id="43" name="Oval 42"/>
          <p:cNvSpPr/>
          <p:nvPr/>
        </p:nvSpPr>
        <p:spPr>
          <a:xfrm>
            <a:off x="10405872" y="3090672"/>
            <a:ext cx="246888" cy="246888"/>
          </a:xfrm>
          <a:prstGeom prst="ellipse">
            <a:avLst/>
          </a:prstGeom>
          <a:solidFill>
            <a:srgbClr val="FF7E5A"/>
          </a:solidFill>
          <a:ln>
            <a:solidFill>
              <a:srgbClr val="FF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177272" y="335584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E4632"/>
                </a:solidFill>
              </a:rPr>
              <a:t>SWITCH</a:t>
            </a:r>
          </a:p>
        </p:txBody>
      </p:sp>
      <p:sp>
        <p:nvSpPr>
          <p:cNvPr id="45" name="Oval 44"/>
          <p:cNvSpPr/>
          <p:nvPr/>
        </p:nvSpPr>
        <p:spPr>
          <a:xfrm>
            <a:off x="9189720" y="3246120"/>
            <a:ext cx="246888" cy="246888"/>
          </a:xfrm>
          <a:prstGeom prst="ellipse">
            <a:avLst/>
          </a:prstGeom>
          <a:solidFill>
            <a:srgbClr val="FF7E5A"/>
          </a:solidFill>
          <a:ln>
            <a:solidFill>
              <a:srgbClr val="FF7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61120" y="35112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E4632"/>
                </a:solidFill>
              </a:rPr>
              <a:t>FAN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925312"/>
            <a:ext cx="10881360" cy="438912"/>
          </a:xfrm>
          <a:prstGeom prst="roundRect">
            <a:avLst/>
          </a:prstGeom>
          <a:solidFill>
            <a:srgbClr val="135B44"/>
          </a:solidFill>
          <a:ln>
            <a:solidFill>
              <a:srgbClr val="135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3232" y="6007608"/>
            <a:ext cx="6858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</a:rPr>
              <a:t>🎯  </a:t>
            </a:r>
            <a:r>
              <a:rPr lang="en-US" sz="1100" b="1" dirty="0">
                <a:solidFill>
                  <a:srgbClr val="FFFFFF"/>
                </a:solidFill>
              </a:rPr>
              <a:t>MAKE THIS PRESENTATION AS MOTIVATION AND MAKE THE CAMPUS WITH POWER SAVING AWARENESS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818120" y="6007608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DCFFE7"/>
                </a:solidFill>
              </a:rPr>
              <a:t>TEAM GOAL → LESS WASTE • MORE IMPACT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437376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86962"/>
                </a:solidFill>
              </a:rPr>
              <a:t>Awareness loop:  Spot waste  →  Take action  →  Report  →  Celebrate savings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551</Words>
  <Application>Microsoft Office PowerPoint</Application>
  <PresentationFormat>Widescreen</PresentationFormat>
  <Paragraphs>126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HARII KS</dc:creator>
  <cp:keywords/>
  <dc:description>generated using python-pptx</dc:description>
  <cp:lastModifiedBy>HARII KS</cp:lastModifiedBy>
  <cp:revision>6</cp:revision>
  <dcterms:created xsi:type="dcterms:W3CDTF">2013-01-27T09:14:16Z</dcterms:created>
  <dcterms:modified xsi:type="dcterms:W3CDTF">2026-09-11T13:41:49Z</dcterms:modified>
  <cp:category/>
</cp:coreProperties>
</file>